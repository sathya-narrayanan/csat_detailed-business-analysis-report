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88" r:id="rId4"/>
    <p:sldId id="280" r:id="rId5"/>
    <p:sldId id="281" r:id="rId6"/>
    <p:sldId id="282" r:id="rId7"/>
    <p:sldId id="283" r:id="rId8"/>
    <p:sldId id="284" r:id="rId9"/>
    <p:sldId id="285" r:id="rId10"/>
    <p:sldId id="286" r:id="rId11"/>
    <p:sldId id="28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7" d="100"/>
          <a:sy n="57" d="100"/>
        </p:scale>
        <p:origin x="94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CC3C9-30AA-D7F0-DE58-310B8055B8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C6FE158-15B2-154F-6676-3D6C812668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41373A8-45CE-8D6E-41F7-6317FB5D8B5E}"/>
              </a:ext>
            </a:extLst>
          </p:cNvPr>
          <p:cNvSpPr>
            <a:spLocks noGrp="1"/>
          </p:cNvSpPr>
          <p:nvPr>
            <p:ph type="dt" sz="half" idx="10"/>
          </p:nvPr>
        </p:nvSpPr>
        <p:spPr/>
        <p:txBody>
          <a:bodyPr/>
          <a:lstStyle/>
          <a:p>
            <a:fld id="{9408FC7F-9A3A-4436-B6A9-D8F6E8056BF5}" type="datetimeFigureOut">
              <a:rPr lang="en-IN" smtClean="0"/>
              <a:t>19-04-2026</a:t>
            </a:fld>
            <a:endParaRPr lang="en-IN"/>
          </a:p>
        </p:txBody>
      </p:sp>
      <p:sp>
        <p:nvSpPr>
          <p:cNvPr id="5" name="Footer Placeholder 4">
            <a:extLst>
              <a:ext uri="{FF2B5EF4-FFF2-40B4-BE49-F238E27FC236}">
                <a16:creationId xmlns:a16="http://schemas.microsoft.com/office/drawing/2014/main" id="{02B23D53-5FD0-5841-C139-6B445036B9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0EA927-05F6-BC1B-D443-3967D817F551}"/>
              </a:ext>
            </a:extLst>
          </p:cNvPr>
          <p:cNvSpPr>
            <a:spLocks noGrp="1"/>
          </p:cNvSpPr>
          <p:nvPr>
            <p:ph type="sldNum" sz="quarter" idx="12"/>
          </p:nvPr>
        </p:nvSpPr>
        <p:spPr/>
        <p:txBody>
          <a:bodyPr/>
          <a:lstStyle/>
          <a:p>
            <a:fld id="{C8BF0CA2-B617-4597-99A0-078115AA24D6}" type="slidenum">
              <a:rPr lang="en-IN" smtClean="0"/>
              <a:t>‹#›</a:t>
            </a:fld>
            <a:endParaRPr lang="en-IN"/>
          </a:p>
        </p:txBody>
      </p:sp>
    </p:spTree>
    <p:extLst>
      <p:ext uri="{BB962C8B-B14F-4D97-AF65-F5344CB8AC3E}">
        <p14:creationId xmlns:p14="http://schemas.microsoft.com/office/powerpoint/2010/main" val="142894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36B6E-E84B-2AA3-FF11-E032B933E7C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AD4792B-DEBE-22A0-BF84-AE241771C39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AAEBD5-A12B-E26A-C62D-3D089EEF489C}"/>
              </a:ext>
            </a:extLst>
          </p:cNvPr>
          <p:cNvSpPr>
            <a:spLocks noGrp="1"/>
          </p:cNvSpPr>
          <p:nvPr>
            <p:ph type="dt" sz="half" idx="10"/>
          </p:nvPr>
        </p:nvSpPr>
        <p:spPr/>
        <p:txBody>
          <a:bodyPr/>
          <a:lstStyle/>
          <a:p>
            <a:fld id="{9408FC7F-9A3A-4436-B6A9-D8F6E8056BF5}" type="datetimeFigureOut">
              <a:rPr lang="en-IN" smtClean="0"/>
              <a:t>19-04-2026</a:t>
            </a:fld>
            <a:endParaRPr lang="en-IN"/>
          </a:p>
        </p:txBody>
      </p:sp>
      <p:sp>
        <p:nvSpPr>
          <p:cNvPr id="5" name="Footer Placeholder 4">
            <a:extLst>
              <a:ext uri="{FF2B5EF4-FFF2-40B4-BE49-F238E27FC236}">
                <a16:creationId xmlns:a16="http://schemas.microsoft.com/office/drawing/2014/main" id="{EF559FB7-2CC9-5125-A4A7-232A350FEE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0DDD57-95BF-C146-D1B5-597DF1A12E32}"/>
              </a:ext>
            </a:extLst>
          </p:cNvPr>
          <p:cNvSpPr>
            <a:spLocks noGrp="1"/>
          </p:cNvSpPr>
          <p:nvPr>
            <p:ph type="sldNum" sz="quarter" idx="12"/>
          </p:nvPr>
        </p:nvSpPr>
        <p:spPr/>
        <p:txBody>
          <a:bodyPr/>
          <a:lstStyle/>
          <a:p>
            <a:fld id="{C8BF0CA2-B617-4597-99A0-078115AA24D6}" type="slidenum">
              <a:rPr lang="en-IN" smtClean="0"/>
              <a:t>‹#›</a:t>
            </a:fld>
            <a:endParaRPr lang="en-IN"/>
          </a:p>
        </p:txBody>
      </p:sp>
    </p:spTree>
    <p:extLst>
      <p:ext uri="{BB962C8B-B14F-4D97-AF65-F5344CB8AC3E}">
        <p14:creationId xmlns:p14="http://schemas.microsoft.com/office/powerpoint/2010/main" val="1277473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F6F1B-866F-CF2B-78CE-FF9B083771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783C961-7780-3868-9595-A8E443BA4B0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DDD09F-6B77-B18C-4838-F71FE21C2609}"/>
              </a:ext>
            </a:extLst>
          </p:cNvPr>
          <p:cNvSpPr>
            <a:spLocks noGrp="1"/>
          </p:cNvSpPr>
          <p:nvPr>
            <p:ph type="dt" sz="half" idx="10"/>
          </p:nvPr>
        </p:nvSpPr>
        <p:spPr/>
        <p:txBody>
          <a:bodyPr/>
          <a:lstStyle/>
          <a:p>
            <a:fld id="{9408FC7F-9A3A-4436-B6A9-D8F6E8056BF5}" type="datetimeFigureOut">
              <a:rPr lang="en-IN" smtClean="0"/>
              <a:t>19-04-2026</a:t>
            </a:fld>
            <a:endParaRPr lang="en-IN"/>
          </a:p>
        </p:txBody>
      </p:sp>
      <p:sp>
        <p:nvSpPr>
          <p:cNvPr id="5" name="Footer Placeholder 4">
            <a:extLst>
              <a:ext uri="{FF2B5EF4-FFF2-40B4-BE49-F238E27FC236}">
                <a16:creationId xmlns:a16="http://schemas.microsoft.com/office/drawing/2014/main" id="{8E1A828D-6969-6093-6231-B7981CC969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80422D-3164-CEE5-2073-63720BE3E1A4}"/>
              </a:ext>
            </a:extLst>
          </p:cNvPr>
          <p:cNvSpPr>
            <a:spLocks noGrp="1"/>
          </p:cNvSpPr>
          <p:nvPr>
            <p:ph type="sldNum" sz="quarter" idx="12"/>
          </p:nvPr>
        </p:nvSpPr>
        <p:spPr/>
        <p:txBody>
          <a:bodyPr/>
          <a:lstStyle/>
          <a:p>
            <a:fld id="{C8BF0CA2-B617-4597-99A0-078115AA24D6}" type="slidenum">
              <a:rPr lang="en-IN" smtClean="0"/>
              <a:t>‹#›</a:t>
            </a:fld>
            <a:endParaRPr lang="en-IN"/>
          </a:p>
        </p:txBody>
      </p:sp>
    </p:spTree>
    <p:extLst>
      <p:ext uri="{BB962C8B-B14F-4D97-AF65-F5344CB8AC3E}">
        <p14:creationId xmlns:p14="http://schemas.microsoft.com/office/powerpoint/2010/main" val="1478269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CB97F-3C15-EDD7-7428-8E21D046A0B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9FB310B-9A62-9EFF-C2C7-B81662A533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66BF042-9099-A754-5DB3-3894E89A6C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7F2A2AC-C737-430A-8D17-B984504652CB}"/>
              </a:ext>
            </a:extLst>
          </p:cNvPr>
          <p:cNvSpPr>
            <a:spLocks noGrp="1"/>
          </p:cNvSpPr>
          <p:nvPr>
            <p:ph type="dt" sz="half" idx="10"/>
          </p:nvPr>
        </p:nvSpPr>
        <p:spPr/>
        <p:txBody>
          <a:bodyPr/>
          <a:lstStyle/>
          <a:p>
            <a:fld id="{9408FC7F-9A3A-4436-B6A9-D8F6E8056BF5}" type="datetimeFigureOut">
              <a:rPr lang="en-IN" smtClean="0"/>
              <a:t>19-04-2026</a:t>
            </a:fld>
            <a:endParaRPr lang="en-IN"/>
          </a:p>
        </p:txBody>
      </p:sp>
      <p:sp>
        <p:nvSpPr>
          <p:cNvPr id="6" name="Footer Placeholder 5">
            <a:extLst>
              <a:ext uri="{FF2B5EF4-FFF2-40B4-BE49-F238E27FC236}">
                <a16:creationId xmlns:a16="http://schemas.microsoft.com/office/drawing/2014/main" id="{E32102E7-2600-D734-EE83-0102821CDC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A3A99DD-40F9-AF5F-F454-1EF2CB83965A}"/>
              </a:ext>
            </a:extLst>
          </p:cNvPr>
          <p:cNvSpPr>
            <a:spLocks noGrp="1"/>
          </p:cNvSpPr>
          <p:nvPr>
            <p:ph type="sldNum" sz="quarter" idx="12"/>
          </p:nvPr>
        </p:nvSpPr>
        <p:spPr/>
        <p:txBody>
          <a:bodyPr/>
          <a:lstStyle/>
          <a:p>
            <a:fld id="{C8BF0CA2-B617-4597-99A0-078115AA24D6}" type="slidenum">
              <a:rPr lang="en-IN" smtClean="0"/>
              <a:t>‹#›</a:t>
            </a:fld>
            <a:endParaRPr lang="en-IN"/>
          </a:p>
        </p:txBody>
      </p:sp>
    </p:spTree>
    <p:extLst>
      <p:ext uri="{BB962C8B-B14F-4D97-AF65-F5344CB8AC3E}">
        <p14:creationId xmlns:p14="http://schemas.microsoft.com/office/powerpoint/2010/main" val="2257466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BEFC5-C60C-EC2F-3A8E-CEB5C9FB019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CB590D-AE56-FADB-68FE-586965B3DB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73B60D-1DA9-B3D1-DF83-26B69089AD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0185BE0-207D-B204-0D84-EE1A01C790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58B34D9-B6A6-9B33-80E0-CA8D5527382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9AF9B15-51ED-99A4-E8CB-61503371E10C}"/>
              </a:ext>
            </a:extLst>
          </p:cNvPr>
          <p:cNvSpPr>
            <a:spLocks noGrp="1"/>
          </p:cNvSpPr>
          <p:nvPr>
            <p:ph type="dt" sz="half" idx="10"/>
          </p:nvPr>
        </p:nvSpPr>
        <p:spPr/>
        <p:txBody>
          <a:bodyPr/>
          <a:lstStyle/>
          <a:p>
            <a:fld id="{9408FC7F-9A3A-4436-B6A9-D8F6E8056BF5}" type="datetimeFigureOut">
              <a:rPr lang="en-IN" smtClean="0"/>
              <a:t>19-04-2026</a:t>
            </a:fld>
            <a:endParaRPr lang="en-IN"/>
          </a:p>
        </p:txBody>
      </p:sp>
      <p:sp>
        <p:nvSpPr>
          <p:cNvPr id="8" name="Footer Placeholder 7">
            <a:extLst>
              <a:ext uri="{FF2B5EF4-FFF2-40B4-BE49-F238E27FC236}">
                <a16:creationId xmlns:a16="http://schemas.microsoft.com/office/drawing/2014/main" id="{EBFF8D43-2DD6-2C86-6CE8-8AA6DA5CF38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874F440-0D1C-6F1C-0DDF-63BE585B6FBB}"/>
              </a:ext>
            </a:extLst>
          </p:cNvPr>
          <p:cNvSpPr>
            <a:spLocks noGrp="1"/>
          </p:cNvSpPr>
          <p:nvPr>
            <p:ph type="sldNum" sz="quarter" idx="12"/>
          </p:nvPr>
        </p:nvSpPr>
        <p:spPr/>
        <p:txBody>
          <a:bodyPr/>
          <a:lstStyle/>
          <a:p>
            <a:fld id="{C8BF0CA2-B617-4597-99A0-078115AA24D6}" type="slidenum">
              <a:rPr lang="en-IN" smtClean="0"/>
              <a:t>‹#›</a:t>
            </a:fld>
            <a:endParaRPr lang="en-IN"/>
          </a:p>
        </p:txBody>
      </p:sp>
    </p:spTree>
    <p:extLst>
      <p:ext uri="{BB962C8B-B14F-4D97-AF65-F5344CB8AC3E}">
        <p14:creationId xmlns:p14="http://schemas.microsoft.com/office/powerpoint/2010/main" val="3583442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E32B9-2629-9BDA-8D23-4EB6787C2EE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2F6D674-706D-B75E-BC30-FEDA58FC74A7}"/>
              </a:ext>
            </a:extLst>
          </p:cNvPr>
          <p:cNvSpPr>
            <a:spLocks noGrp="1"/>
          </p:cNvSpPr>
          <p:nvPr>
            <p:ph type="dt" sz="half" idx="10"/>
          </p:nvPr>
        </p:nvSpPr>
        <p:spPr/>
        <p:txBody>
          <a:bodyPr/>
          <a:lstStyle/>
          <a:p>
            <a:fld id="{9408FC7F-9A3A-4436-B6A9-D8F6E8056BF5}" type="datetimeFigureOut">
              <a:rPr lang="en-IN" smtClean="0"/>
              <a:t>19-04-2026</a:t>
            </a:fld>
            <a:endParaRPr lang="en-IN"/>
          </a:p>
        </p:txBody>
      </p:sp>
      <p:sp>
        <p:nvSpPr>
          <p:cNvPr id="4" name="Footer Placeholder 3">
            <a:extLst>
              <a:ext uri="{FF2B5EF4-FFF2-40B4-BE49-F238E27FC236}">
                <a16:creationId xmlns:a16="http://schemas.microsoft.com/office/drawing/2014/main" id="{00D0C70A-50AB-BBF3-D9F8-095615FCF71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FBC71B0-EEF1-83C1-BD1A-A8F253EF7DCB}"/>
              </a:ext>
            </a:extLst>
          </p:cNvPr>
          <p:cNvSpPr>
            <a:spLocks noGrp="1"/>
          </p:cNvSpPr>
          <p:nvPr>
            <p:ph type="sldNum" sz="quarter" idx="12"/>
          </p:nvPr>
        </p:nvSpPr>
        <p:spPr/>
        <p:txBody>
          <a:bodyPr/>
          <a:lstStyle/>
          <a:p>
            <a:fld id="{C8BF0CA2-B617-4597-99A0-078115AA24D6}" type="slidenum">
              <a:rPr lang="en-IN" smtClean="0"/>
              <a:t>‹#›</a:t>
            </a:fld>
            <a:endParaRPr lang="en-IN"/>
          </a:p>
        </p:txBody>
      </p:sp>
    </p:spTree>
    <p:extLst>
      <p:ext uri="{BB962C8B-B14F-4D97-AF65-F5344CB8AC3E}">
        <p14:creationId xmlns:p14="http://schemas.microsoft.com/office/powerpoint/2010/main" val="20406056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1B2C69-1634-BA5A-6572-59C30053626B}"/>
              </a:ext>
            </a:extLst>
          </p:cNvPr>
          <p:cNvSpPr>
            <a:spLocks noGrp="1"/>
          </p:cNvSpPr>
          <p:nvPr>
            <p:ph type="dt" sz="half" idx="10"/>
          </p:nvPr>
        </p:nvSpPr>
        <p:spPr/>
        <p:txBody>
          <a:bodyPr/>
          <a:lstStyle/>
          <a:p>
            <a:fld id="{9408FC7F-9A3A-4436-B6A9-D8F6E8056BF5}" type="datetimeFigureOut">
              <a:rPr lang="en-IN" smtClean="0"/>
              <a:t>19-04-2026</a:t>
            </a:fld>
            <a:endParaRPr lang="en-IN"/>
          </a:p>
        </p:txBody>
      </p:sp>
      <p:sp>
        <p:nvSpPr>
          <p:cNvPr id="3" name="Footer Placeholder 2">
            <a:extLst>
              <a:ext uri="{FF2B5EF4-FFF2-40B4-BE49-F238E27FC236}">
                <a16:creationId xmlns:a16="http://schemas.microsoft.com/office/drawing/2014/main" id="{E7FC1959-2EC4-02FA-2829-481642F8E77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594D2F0-B618-BE16-47F9-07AD22BF9D0D}"/>
              </a:ext>
            </a:extLst>
          </p:cNvPr>
          <p:cNvSpPr>
            <a:spLocks noGrp="1"/>
          </p:cNvSpPr>
          <p:nvPr>
            <p:ph type="sldNum" sz="quarter" idx="12"/>
          </p:nvPr>
        </p:nvSpPr>
        <p:spPr/>
        <p:txBody>
          <a:bodyPr/>
          <a:lstStyle/>
          <a:p>
            <a:fld id="{C8BF0CA2-B617-4597-99A0-078115AA24D6}" type="slidenum">
              <a:rPr lang="en-IN" smtClean="0"/>
              <a:t>‹#›</a:t>
            </a:fld>
            <a:endParaRPr lang="en-IN"/>
          </a:p>
        </p:txBody>
      </p:sp>
    </p:spTree>
    <p:extLst>
      <p:ext uri="{BB962C8B-B14F-4D97-AF65-F5344CB8AC3E}">
        <p14:creationId xmlns:p14="http://schemas.microsoft.com/office/powerpoint/2010/main" val="702539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EA67C-F595-0A5E-ADAE-9562B81D4E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2874BA0-5682-716A-573D-A96981DEEB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BC35879-757C-D0DD-CB70-8CF10A2632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2CCD42-41D6-B7FC-5BE9-C3CA9B719A55}"/>
              </a:ext>
            </a:extLst>
          </p:cNvPr>
          <p:cNvSpPr>
            <a:spLocks noGrp="1"/>
          </p:cNvSpPr>
          <p:nvPr>
            <p:ph type="dt" sz="half" idx="10"/>
          </p:nvPr>
        </p:nvSpPr>
        <p:spPr/>
        <p:txBody>
          <a:bodyPr/>
          <a:lstStyle/>
          <a:p>
            <a:fld id="{9408FC7F-9A3A-4436-B6A9-D8F6E8056BF5}" type="datetimeFigureOut">
              <a:rPr lang="en-IN" smtClean="0"/>
              <a:t>19-04-2026</a:t>
            </a:fld>
            <a:endParaRPr lang="en-IN"/>
          </a:p>
        </p:txBody>
      </p:sp>
      <p:sp>
        <p:nvSpPr>
          <p:cNvPr id="6" name="Footer Placeholder 5">
            <a:extLst>
              <a:ext uri="{FF2B5EF4-FFF2-40B4-BE49-F238E27FC236}">
                <a16:creationId xmlns:a16="http://schemas.microsoft.com/office/drawing/2014/main" id="{689F9F38-9BAD-CC3E-9956-24D5152318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946443F-7ECE-3047-0192-ADE4CC2744EE}"/>
              </a:ext>
            </a:extLst>
          </p:cNvPr>
          <p:cNvSpPr>
            <a:spLocks noGrp="1"/>
          </p:cNvSpPr>
          <p:nvPr>
            <p:ph type="sldNum" sz="quarter" idx="12"/>
          </p:nvPr>
        </p:nvSpPr>
        <p:spPr/>
        <p:txBody>
          <a:bodyPr/>
          <a:lstStyle/>
          <a:p>
            <a:fld id="{C8BF0CA2-B617-4597-99A0-078115AA24D6}" type="slidenum">
              <a:rPr lang="en-IN" smtClean="0"/>
              <a:t>‹#›</a:t>
            </a:fld>
            <a:endParaRPr lang="en-IN"/>
          </a:p>
        </p:txBody>
      </p:sp>
    </p:spTree>
    <p:extLst>
      <p:ext uri="{BB962C8B-B14F-4D97-AF65-F5344CB8AC3E}">
        <p14:creationId xmlns:p14="http://schemas.microsoft.com/office/powerpoint/2010/main" val="35372172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D1A0B-BB67-9B6E-5943-AD2091574F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CA247BA-21AD-A095-BDC7-B07E97AE9E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D7C941E-1CE0-41F9-C35D-F8CD38CED6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1410F2-A3F0-6948-1E1D-73710CA290BD}"/>
              </a:ext>
            </a:extLst>
          </p:cNvPr>
          <p:cNvSpPr>
            <a:spLocks noGrp="1"/>
          </p:cNvSpPr>
          <p:nvPr>
            <p:ph type="dt" sz="half" idx="10"/>
          </p:nvPr>
        </p:nvSpPr>
        <p:spPr/>
        <p:txBody>
          <a:bodyPr/>
          <a:lstStyle/>
          <a:p>
            <a:fld id="{9408FC7F-9A3A-4436-B6A9-D8F6E8056BF5}" type="datetimeFigureOut">
              <a:rPr lang="en-IN" smtClean="0"/>
              <a:t>19-04-2026</a:t>
            </a:fld>
            <a:endParaRPr lang="en-IN"/>
          </a:p>
        </p:txBody>
      </p:sp>
      <p:sp>
        <p:nvSpPr>
          <p:cNvPr id="6" name="Footer Placeholder 5">
            <a:extLst>
              <a:ext uri="{FF2B5EF4-FFF2-40B4-BE49-F238E27FC236}">
                <a16:creationId xmlns:a16="http://schemas.microsoft.com/office/drawing/2014/main" id="{D3E70C3B-B6E6-6B90-3A24-BF5DDA9DF4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7AD4F7-5107-F868-75C5-7FB0A1DF9D28}"/>
              </a:ext>
            </a:extLst>
          </p:cNvPr>
          <p:cNvSpPr>
            <a:spLocks noGrp="1"/>
          </p:cNvSpPr>
          <p:nvPr>
            <p:ph type="sldNum" sz="quarter" idx="12"/>
          </p:nvPr>
        </p:nvSpPr>
        <p:spPr/>
        <p:txBody>
          <a:bodyPr/>
          <a:lstStyle/>
          <a:p>
            <a:fld id="{C8BF0CA2-B617-4597-99A0-078115AA24D6}" type="slidenum">
              <a:rPr lang="en-IN" smtClean="0"/>
              <a:t>‹#›</a:t>
            </a:fld>
            <a:endParaRPr lang="en-IN"/>
          </a:p>
        </p:txBody>
      </p:sp>
    </p:spTree>
    <p:extLst>
      <p:ext uri="{BB962C8B-B14F-4D97-AF65-F5344CB8AC3E}">
        <p14:creationId xmlns:p14="http://schemas.microsoft.com/office/powerpoint/2010/main" val="3843209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B883B-D80F-ABB4-02BF-89FD488A14F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EA85AD-6DCA-76EA-0CE5-896CBF73FA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AD6ADB-8830-E1C5-6992-441698C2E218}"/>
              </a:ext>
            </a:extLst>
          </p:cNvPr>
          <p:cNvSpPr>
            <a:spLocks noGrp="1"/>
          </p:cNvSpPr>
          <p:nvPr>
            <p:ph type="dt" sz="half" idx="10"/>
          </p:nvPr>
        </p:nvSpPr>
        <p:spPr/>
        <p:txBody>
          <a:bodyPr/>
          <a:lstStyle/>
          <a:p>
            <a:fld id="{9408FC7F-9A3A-4436-B6A9-D8F6E8056BF5}" type="datetimeFigureOut">
              <a:rPr lang="en-IN" smtClean="0"/>
              <a:t>19-04-2026</a:t>
            </a:fld>
            <a:endParaRPr lang="en-IN"/>
          </a:p>
        </p:txBody>
      </p:sp>
      <p:sp>
        <p:nvSpPr>
          <p:cNvPr id="5" name="Footer Placeholder 4">
            <a:extLst>
              <a:ext uri="{FF2B5EF4-FFF2-40B4-BE49-F238E27FC236}">
                <a16:creationId xmlns:a16="http://schemas.microsoft.com/office/drawing/2014/main" id="{F943E0C6-4C87-52F7-2004-E2C33C7A11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B0B2A1-4723-0685-0FFB-67D808623FED}"/>
              </a:ext>
            </a:extLst>
          </p:cNvPr>
          <p:cNvSpPr>
            <a:spLocks noGrp="1"/>
          </p:cNvSpPr>
          <p:nvPr>
            <p:ph type="sldNum" sz="quarter" idx="12"/>
          </p:nvPr>
        </p:nvSpPr>
        <p:spPr/>
        <p:txBody>
          <a:bodyPr/>
          <a:lstStyle/>
          <a:p>
            <a:fld id="{C8BF0CA2-B617-4597-99A0-078115AA24D6}" type="slidenum">
              <a:rPr lang="en-IN" smtClean="0"/>
              <a:t>‹#›</a:t>
            </a:fld>
            <a:endParaRPr lang="en-IN"/>
          </a:p>
        </p:txBody>
      </p:sp>
    </p:spTree>
    <p:extLst>
      <p:ext uri="{BB962C8B-B14F-4D97-AF65-F5344CB8AC3E}">
        <p14:creationId xmlns:p14="http://schemas.microsoft.com/office/powerpoint/2010/main" val="101544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FA5397-CFC3-6A26-494A-DCD6A5D607B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5751C48-6545-4CB2-DBC3-22FB949B1E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BD3CB7-2D50-0703-9A16-1AEE5A70EECA}"/>
              </a:ext>
            </a:extLst>
          </p:cNvPr>
          <p:cNvSpPr>
            <a:spLocks noGrp="1"/>
          </p:cNvSpPr>
          <p:nvPr>
            <p:ph type="dt" sz="half" idx="10"/>
          </p:nvPr>
        </p:nvSpPr>
        <p:spPr/>
        <p:txBody>
          <a:bodyPr/>
          <a:lstStyle/>
          <a:p>
            <a:fld id="{9408FC7F-9A3A-4436-B6A9-D8F6E8056BF5}" type="datetimeFigureOut">
              <a:rPr lang="en-IN" smtClean="0"/>
              <a:t>19-04-2026</a:t>
            </a:fld>
            <a:endParaRPr lang="en-IN"/>
          </a:p>
        </p:txBody>
      </p:sp>
      <p:sp>
        <p:nvSpPr>
          <p:cNvPr id="5" name="Footer Placeholder 4">
            <a:extLst>
              <a:ext uri="{FF2B5EF4-FFF2-40B4-BE49-F238E27FC236}">
                <a16:creationId xmlns:a16="http://schemas.microsoft.com/office/drawing/2014/main" id="{4AEFB301-1C98-1B85-3325-FDBCC7DDEB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7205A1-7D49-C9B2-C440-17E990AF09A9}"/>
              </a:ext>
            </a:extLst>
          </p:cNvPr>
          <p:cNvSpPr>
            <a:spLocks noGrp="1"/>
          </p:cNvSpPr>
          <p:nvPr>
            <p:ph type="sldNum" sz="quarter" idx="12"/>
          </p:nvPr>
        </p:nvSpPr>
        <p:spPr/>
        <p:txBody>
          <a:bodyPr/>
          <a:lstStyle/>
          <a:p>
            <a:fld id="{C8BF0CA2-B617-4597-99A0-078115AA24D6}" type="slidenum">
              <a:rPr lang="en-IN" smtClean="0"/>
              <a:t>‹#›</a:t>
            </a:fld>
            <a:endParaRPr lang="en-IN"/>
          </a:p>
        </p:txBody>
      </p:sp>
    </p:spTree>
    <p:extLst>
      <p:ext uri="{BB962C8B-B14F-4D97-AF65-F5344CB8AC3E}">
        <p14:creationId xmlns:p14="http://schemas.microsoft.com/office/powerpoint/2010/main" val="937356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8E2597-5EC5-5DBE-4637-EAD26A487D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1EADFF4-8D6F-538A-D623-AE3E41B45A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837E30-5887-B05B-9741-BB2E46B397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408FC7F-9A3A-4436-B6A9-D8F6E8056BF5}" type="datetimeFigureOut">
              <a:rPr lang="en-IN" smtClean="0"/>
              <a:t>19-04-2026</a:t>
            </a:fld>
            <a:endParaRPr lang="en-IN"/>
          </a:p>
        </p:txBody>
      </p:sp>
      <p:sp>
        <p:nvSpPr>
          <p:cNvPr id="5" name="Footer Placeholder 4">
            <a:extLst>
              <a:ext uri="{FF2B5EF4-FFF2-40B4-BE49-F238E27FC236}">
                <a16:creationId xmlns:a16="http://schemas.microsoft.com/office/drawing/2014/main" id="{BCB8DAD9-7EF2-1C88-433A-8C9CB6ED1A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5BD71810-08AA-DD93-FC19-6053D5E9A4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BF0CA2-B617-4597-99A0-078115AA24D6}" type="slidenum">
              <a:rPr lang="en-IN" smtClean="0"/>
              <a:t>‹#›</a:t>
            </a:fld>
            <a:endParaRPr lang="en-IN"/>
          </a:p>
        </p:txBody>
      </p:sp>
    </p:spTree>
    <p:extLst>
      <p:ext uri="{BB962C8B-B14F-4D97-AF65-F5344CB8AC3E}">
        <p14:creationId xmlns:p14="http://schemas.microsoft.com/office/powerpoint/2010/main" val="23231393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pic>
        <p:nvPicPr>
          <p:cNvPr id="1026" name="Picture 2" descr="https://static.vecteezy.com/system/resources/previews/011/430/978/non_2x/sales-pitch-data-visualization-element-marketing-chart-research-data-business-statistics-financial-report-company-performance-analysis-concept-flat-modern-illustration-vecto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712158"/>
            <a:ext cx="5432495" cy="362166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5949333" y="2302244"/>
            <a:ext cx="5720220" cy="954107"/>
          </a:xfrm>
          <a:prstGeom prst="rect">
            <a:avLst/>
          </a:prstGeom>
          <a:noFill/>
        </p:spPr>
        <p:txBody>
          <a:bodyPr wrap="none" rtlCol="0">
            <a:spAutoFit/>
          </a:bodyPr>
          <a:lstStyle/>
          <a:p>
            <a:r>
              <a:rPr lang="en-GB" sz="2800" b="1" dirty="0"/>
              <a:t>CSAT - Detailed Business Analysis</a:t>
            </a:r>
          </a:p>
          <a:p>
            <a:r>
              <a:rPr lang="en-IN" sz="2800" b="1" dirty="0"/>
              <a:t>Report</a:t>
            </a:r>
          </a:p>
        </p:txBody>
      </p:sp>
      <p:sp>
        <p:nvSpPr>
          <p:cNvPr id="8" name="TextBox 7"/>
          <p:cNvSpPr txBox="1"/>
          <p:nvPr/>
        </p:nvSpPr>
        <p:spPr>
          <a:xfrm>
            <a:off x="5949333" y="3830927"/>
            <a:ext cx="3892348" cy="1323439"/>
          </a:xfrm>
          <a:prstGeom prst="rect">
            <a:avLst/>
          </a:prstGeom>
          <a:noFill/>
        </p:spPr>
        <p:txBody>
          <a:bodyPr wrap="none" rtlCol="0">
            <a:spAutoFit/>
          </a:bodyPr>
          <a:lstStyle/>
          <a:p>
            <a:r>
              <a:rPr lang="en-GB" sz="2000" b="1" dirty="0"/>
              <a:t>PRESENTED BY </a:t>
            </a:r>
          </a:p>
          <a:p>
            <a:endParaRPr lang="en-GB" sz="2000" b="1" dirty="0"/>
          </a:p>
          <a:p>
            <a:r>
              <a:rPr lang="en-GB" sz="2000" b="1" dirty="0"/>
              <a:t>SATHYANARRAYANAN</a:t>
            </a:r>
          </a:p>
          <a:p>
            <a:r>
              <a:rPr lang="en-GB" sz="2000" b="1" dirty="0"/>
              <a:t>(sathyanarrayanan@gmail.com)</a:t>
            </a:r>
            <a:endParaRPr lang="en-IN" sz="2000" b="1" dirty="0"/>
          </a:p>
        </p:txBody>
      </p:sp>
    </p:spTree>
    <p:extLst>
      <p:ext uri="{BB962C8B-B14F-4D97-AF65-F5344CB8AC3E}">
        <p14:creationId xmlns:p14="http://schemas.microsoft.com/office/powerpoint/2010/main" val="1048431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045B1DE0-F4C3-F66E-6B76-BF033D3DB450}"/>
              </a:ext>
            </a:extLst>
          </p:cNvPr>
          <p:cNvSpPr txBox="1">
            <a:spLocks/>
          </p:cNvSpPr>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dirty="0">
                <a:latin typeface="Arial" panose="020B0604020202020204" pitchFamily="34" charset="0"/>
                <a:cs typeface="Arial" panose="020B0604020202020204" pitchFamily="34" charset="0"/>
              </a:rPr>
              <a:t>OBJECTIVE</a:t>
            </a:r>
          </a:p>
        </p:txBody>
      </p:sp>
      <p:sp>
        <p:nvSpPr>
          <p:cNvPr id="9" name="Content Placeholder 2">
            <a:extLst>
              <a:ext uri="{FF2B5EF4-FFF2-40B4-BE49-F238E27FC236}">
                <a16:creationId xmlns:a16="http://schemas.microsoft.com/office/drawing/2014/main" id="{8C8CC6C5-504F-45B2-FB37-5E495431432B}"/>
              </a:ext>
            </a:extLst>
          </p:cNvPr>
          <p:cNvSpPr txBox="1">
            <a:spLocks/>
          </p:cNvSpPr>
          <p:nvPr/>
        </p:nvSpPr>
        <p:spPr>
          <a:xfrm>
            <a:off x="758390" y="1265339"/>
            <a:ext cx="10663990" cy="3607440"/>
          </a:xfrm>
          <a:prstGeom prst="rect">
            <a:avLst/>
          </a:prstGeom>
        </p:spPr>
        <p:txBody>
          <a:bodyPr vert="horz" lIns="91440" tIns="45720" rIns="91440" bIns="45720" rtlCol="0" anchor="t" anchorCtr="0">
            <a:no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GB" sz="1600" dirty="0">
                <a:latin typeface="Arial" panose="020B0604020202020204" pitchFamily="34" charset="0"/>
              </a:rPr>
              <a:t>The objective of this analysis is to evaluate customer support performance and identify key factors impacting customer satisfaction using data extracted from the SQL database.</a:t>
            </a:r>
          </a:p>
          <a:p>
            <a:pPr>
              <a:lnSpc>
                <a:spcPct val="100000"/>
              </a:lnSpc>
            </a:pPr>
            <a:r>
              <a:rPr lang="en-GB" sz="1600" dirty="0">
                <a:latin typeface="Arial" panose="020B0604020202020204" pitchFamily="34" charset="0"/>
              </a:rPr>
              <a:t>This study aims to:</a:t>
            </a:r>
          </a:p>
          <a:p>
            <a:pPr marL="285750" indent="-285750">
              <a:lnSpc>
                <a:spcPct val="100000"/>
              </a:lnSpc>
              <a:buFont typeface="Arial" panose="020B0604020202020204" pitchFamily="34" charset="0"/>
              <a:buChar char="•"/>
            </a:pPr>
            <a:r>
              <a:rPr lang="en-GB" sz="1600" dirty="0" err="1">
                <a:latin typeface="Arial" panose="020B0604020202020204" pitchFamily="34" charset="0"/>
              </a:rPr>
              <a:t>Analyze</a:t>
            </a:r>
            <a:r>
              <a:rPr lang="en-GB" sz="1600" dirty="0">
                <a:latin typeface="Arial" panose="020B0604020202020204" pitchFamily="34" charset="0"/>
              </a:rPr>
              <a:t> key operational metrics such as call volume, call duration, SLA performance, and CSAT scores</a:t>
            </a:r>
          </a:p>
          <a:p>
            <a:pPr marL="285750" indent="-285750">
              <a:lnSpc>
                <a:spcPct val="100000"/>
              </a:lnSpc>
              <a:buFont typeface="Arial" panose="020B0604020202020204" pitchFamily="34" charset="0"/>
              <a:buChar char="•"/>
            </a:pPr>
            <a:r>
              <a:rPr lang="en-GB" sz="1600" dirty="0">
                <a:latin typeface="Arial" panose="020B0604020202020204" pitchFamily="34" charset="0"/>
              </a:rPr>
              <a:t>Identify major drivers of customer dissatisfaction, particularly focusing on call reasons and service inefficiencies</a:t>
            </a:r>
          </a:p>
          <a:p>
            <a:pPr marL="285750" indent="-285750">
              <a:lnSpc>
                <a:spcPct val="100000"/>
              </a:lnSpc>
              <a:buFont typeface="Arial" panose="020B0604020202020204" pitchFamily="34" charset="0"/>
              <a:buChar char="•"/>
            </a:pPr>
            <a:r>
              <a:rPr lang="en-GB" sz="1600" dirty="0">
                <a:latin typeface="Arial" panose="020B0604020202020204" pitchFamily="34" charset="0"/>
              </a:rPr>
              <a:t>Understand customer </a:t>
            </a:r>
            <a:r>
              <a:rPr lang="en-GB" sz="1600" dirty="0" err="1">
                <a:latin typeface="Arial" panose="020B0604020202020204" pitchFamily="34" charset="0"/>
              </a:rPr>
              <a:t>behavior</a:t>
            </a:r>
            <a:r>
              <a:rPr lang="en-GB" sz="1600" dirty="0">
                <a:latin typeface="Arial" panose="020B0604020202020204" pitchFamily="34" charset="0"/>
              </a:rPr>
              <a:t> across different channels and geographic regions</a:t>
            </a:r>
          </a:p>
          <a:p>
            <a:pPr marL="285750" indent="-285750">
              <a:lnSpc>
                <a:spcPct val="100000"/>
              </a:lnSpc>
              <a:buFont typeface="Arial" panose="020B0604020202020204" pitchFamily="34" charset="0"/>
              <a:buChar char="•"/>
            </a:pPr>
            <a:r>
              <a:rPr lang="en-GB" sz="1600" dirty="0">
                <a:latin typeface="Arial" panose="020B0604020202020204" pitchFamily="34" charset="0"/>
              </a:rPr>
              <a:t>Detect trends in call volume to assess future operational demand</a:t>
            </a:r>
          </a:p>
          <a:p>
            <a:pPr>
              <a:lnSpc>
                <a:spcPct val="100000"/>
              </a:lnSpc>
            </a:pPr>
            <a:r>
              <a:rPr lang="en-GB" sz="1600" dirty="0">
                <a:latin typeface="Arial" panose="020B0604020202020204" pitchFamily="34" charset="0"/>
              </a:rPr>
              <a:t>Based on these insights, the analysis aims to provide data-driven business recommendations </a:t>
            </a:r>
          </a:p>
          <a:p>
            <a:pPr>
              <a:lnSpc>
                <a:spcPct val="100000"/>
              </a:lnSpc>
            </a:pPr>
            <a:r>
              <a:rPr lang="en-GB" sz="1600" dirty="0">
                <a:latin typeface="Arial" panose="020B0604020202020204" pitchFamily="34" charset="0"/>
              </a:rPr>
              <a:t>to improve customer experience, optimize operational efficiency, and reduce support costs.</a:t>
            </a:r>
            <a:endParaRPr lang="en-US" sz="1600" dirty="0"/>
          </a:p>
        </p:txBody>
      </p:sp>
      <p:pic>
        <p:nvPicPr>
          <p:cNvPr id="2050" name="Picture 2" descr="Sales Performance Stock Illustrations – 17,240 Sales Performance Stock  Illustrations, Vectors &amp; Clipart - Dreamstim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20798" y="3914078"/>
            <a:ext cx="2771202" cy="2771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1287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E06D0-E76E-632D-0F73-999852EE055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BB178FD-655F-C3E6-C479-2C68E7277333}"/>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FBF8B45E-9E44-4480-A794-498B6ACC6374}"/>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23890CDA-4B52-7C41-108A-FA3A88EFC3D3}"/>
              </a:ext>
            </a:extLst>
          </p:cNvPr>
          <p:cNvSpPr txBox="1">
            <a:spLocks/>
          </p:cNvSpPr>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dirty="0">
                <a:latin typeface="Arial" panose="020B0604020202020204" pitchFamily="34" charset="0"/>
                <a:cs typeface="Arial" panose="020B0604020202020204" pitchFamily="34" charset="0"/>
              </a:rPr>
              <a:t>KPI INSIGHT</a:t>
            </a:r>
          </a:p>
        </p:txBody>
      </p:sp>
      <p:sp>
        <p:nvSpPr>
          <p:cNvPr id="9" name="Title 1">
            <a:extLst>
              <a:ext uri="{FF2B5EF4-FFF2-40B4-BE49-F238E27FC236}">
                <a16:creationId xmlns:a16="http://schemas.microsoft.com/office/drawing/2014/main" id="{D703D6CD-D110-A04B-65E8-79EF9B06E2B8}"/>
              </a:ext>
            </a:extLst>
          </p:cNvPr>
          <p:cNvSpPr txBox="1">
            <a:spLocks/>
          </p:cNvSpPr>
          <p:nvPr/>
        </p:nvSpPr>
        <p:spPr>
          <a:xfrm>
            <a:off x="769620" y="2677346"/>
            <a:ext cx="10652760" cy="3508973"/>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1600" dirty="0">
                <a:latin typeface="Arial" panose="020B0604020202020204" pitchFamily="34" charset="0"/>
                <a:cs typeface="Arial" panose="020B0604020202020204" pitchFamily="34" charset="0"/>
              </a:rPr>
              <a:t>The dashboard highlights a concerning gap between operational performance and customer satisfaction. While the total call volume of 1000 indicates a stable but active customer base, the average call duration of 25.15 minutes is significantly high, suggesting that customers are facing complex issues or agents are struggling to resolve queries efficiently.</a:t>
            </a:r>
          </a:p>
          <a:p>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The most critical concern is the average CSAT score of 2.05 out of 5, which clearly indicates widespread customer dissatisfaction. This low score reflects poor service experience, delayed resolutions, or lack of clarity in communication.</a:t>
            </a:r>
          </a:p>
          <a:p>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Although 61% of calls are handled within SLA, this level of compliance is not sufficient to ensure a high-quality experience. The combination of long call durations and low satisfaction suggests that even when SLAs are met, the quality of resolution is not meeting customer expectations.</a:t>
            </a:r>
          </a:p>
          <a:p>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Business Interpretation:</a:t>
            </a:r>
          </a:p>
          <a:p>
            <a:r>
              <a:rPr lang="en-GB" sz="1600" dirty="0">
                <a:latin typeface="Arial" panose="020B0604020202020204" pitchFamily="34" charset="0"/>
                <a:cs typeface="Arial" panose="020B0604020202020204" pitchFamily="34" charset="0"/>
              </a:rPr>
              <a:t>Operational metrics may appear acceptable at a surface level, but customer experience is failing. This indicates a quality issue rather than just a performance issue.</a:t>
            </a:r>
            <a:endParaRPr lang="en-US" sz="16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2031F097-81CC-E88C-EE6F-52FC7BE448E1}"/>
              </a:ext>
            </a:extLst>
          </p:cNvPr>
          <p:cNvPicPr>
            <a:picLocks noChangeAspect="1"/>
          </p:cNvPicPr>
          <p:nvPr/>
        </p:nvPicPr>
        <p:blipFill>
          <a:blip r:embed="rId2"/>
          <a:stretch>
            <a:fillRect/>
          </a:stretch>
        </p:blipFill>
        <p:spPr>
          <a:xfrm>
            <a:off x="769620" y="1089404"/>
            <a:ext cx="10652760" cy="1336763"/>
          </a:xfrm>
          <a:prstGeom prst="rect">
            <a:avLst/>
          </a:prstGeom>
        </p:spPr>
      </p:pic>
    </p:spTree>
    <p:extLst>
      <p:ext uri="{BB962C8B-B14F-4D97-AF65-F5344CB8AC3E}">
        <p14:creationId xmlns:p14="http://schemas.microsoft.com/office/powerpoint/2010/main" val="1199963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957AA-996E-5E87-3A81-733ADCD17EE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DD0B863-A522-53F5-D9EB-0AF2249A3511}"/>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9933185-01EA-EE33-BE08-C55753591B1E}"/>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2B6DDF50-8262-B5AF-9CC2-0794EC906D40}"/>
              </a:ext>
            </a:extLst>
          </p:cNvPr>
          <p:cNvSpPr txBox="1">
            <a:spLocks/>
          </p:cNvSpPr>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3200" dirty="0">
                <a:latin typeface="Arial" panose="020B0604020202020204" pitchFamily="34" charset="0"/>
                <a:cs typeface="Arial" panose="020B0604020202020204" pitchFamily="34" charset="0"/>
              </a:rPr>
              <a:t>Response Time (SLA Performance)</a:t>
            </a:r>
            <a:endParaRPr lang="en-US" sz="3200" dirty="0">
              <a:latin typeface="Arial" panose="020B0604020202020204" pitchFamily="34" charset="0"/>
              <a:cs typeface="Arial" panose="020B0604020202020204" pitchFamily="34" charset="0"/>
            </a:endParaRPr>
          </a:p>
        </p:txBody>
      </p:sp>
      <p:sp>
        <p:nvSpPr>
          <p:cNvPr id="9" name="Title 1">
            <a:extLst>
              <a:ext uri="{FF2B5EF4-FFF2-40B4-BE49-F238E27FC236}">
                <a16:creationId xmlns:a16="http://schemas.microsoft.com/office/drawing/2014/main" id="{CEEB55FD-AB4D-E606-BF1E-E0281864DA2C}"/>
              </a:ext>
            </a:extLst>
          </p:cNvPr>
          <p:cNvSpPr txBox="1">
            <a:spLocks/>
          </p:cNvSpPr>
          <p:nvPr/>
        </p:nvSpPr>
        <p:spPr>
          <a:xfrm>
            <a:off x="769620" y="1467146"/>
            <a:ext cx="8563951" cy="220015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1600" dirty="0">
                <a:latin typeface="Arial" panose="020B0604020202020204" pitchFamily="34" charset="0"/>
                <a:cs typeface="Arial" panose="020B0604020202020204" pitchFamily="34" charset="0"/>
              </a:rPr>
              <a:t>The response time analysis shows that while a majority of calls fall within SLA limits, a significant 39% of calls fall outside acceptable performance thresholds. This inconsistency creates an unpredictable customer experience.</a:t>
            </a:r>
          </a:p>
          <a:p>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Customers today expect quick and reliable responses, and even a small percentage of delays can heavily impact satisfaction levels. The variation in SLA adherence suggests inefficiencies in workload distribution, agent availability, or prioritization mechanisms.</a:t>
            </a:r>
          </a:p>
          <a:p>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Business Interpretation:</a:t>
            </a:r>
          </a:p>
          <a:p>
            <a:r>
              <a:rPr lang="en-GB" sz="1600" dirty="0">
                <a:latin typeface="Arial" panose="020B0604020202020204" pitchFamily="34" charset="0"/>
                <a:cs typeface="Arial" panose="020B0604020202020204" pitchFamily="34" charset="0"/>
              </a:rPr>
              <a:t>SLA compliance alone is not enough - consistency is key. The current variation is likely contributing directly to the low CSAT score.</a:t>
            </a:r>
            <a:endParaRPr lang="en-US" sz="1600" dirty="0">
              <a:latin typeface="Arial" panose="020B0604020202020204" pitchFamily="34" charset="0"/>
              <a:cs typeface="Arial" panose="020B0604020202020204" pitchFamily="34" charset="0"/>
            </a:endParaRPr>
          </a:p>
        </p:txBody>
      </p:sp>
      <p:pic>
        <p:nvPicPr>
          <p:cNvPr id="11" name="Picture 10">
            <a:extLst>
              <a:ext uri="{FF2B5EF4-FFF2-40B4-BE49-F238E27FC236}">
                <a16:creationId xmlns:a16="http://schemas.microsoft.com/office/drawing/2014/main" id="{5CD7068C-6647-702C-DDE1-6592AF1EB7C3}"/>
              </a:ext>
            </a:extLst>
          </p:cNvPr>
          <p:cNvPicPr>
            <a:picLocks noChangeAspect="1"/>
          </p:cNvPicPr>
          <p:nvPr/>
        </p:nvPicPr>
        <p:blipFill>
          <a:blip r:embed="rId2"/>
          <a:stretch>
            <a:fillRect/>
          </a:stretch>
        </p:blipFill>
        <p:spPr>
          <a:xfrm>
            <a:off x="6925953" y="3536384"/>
            <a:ext cx="5024438" cy="2981325"/>
          </a:xfrm>
          <a:prstGeom prst="rect">
            <a:avLst/>
          </a:prstGeom>
        </p:spPr>
      </p:pic>
    </p:spTree>
    <p:extLst>
      <p:ext uri="{BB962C8B-B14F-4D97-AF65-F5344CB8AC3E}">
        <p14:creationId xmlns:p14="http://schemas.microsoft.com/office/powerpoint/2010/main" val="1409606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33F7D-0956-71B7-BEE4-C23D213CC2A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611E470-458F-1305-D84D-1BDB698BAA11}"/>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4FCDDD0F-4553-A074-7E01-09DA08AFFE8E}"/>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F9807B3A-5E60-BA2D-4287-06931FA0E469}"/>
              </a:ext>
            </a:extLst>
          </p:cNvPr>
          <p:cNvSpPr txBox="1">
            <a:spLocks/>
          </p:cNvSpPr>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3200" dirty="0">
                <a:latin typeface="Arial" panose="020B0604020202020204" pitchFamily="34" charset="0"/>
                <a:cs typeface="Arial" panose="020B0604020202020204" pitchFamily="34" charset="0"/>
              </a:rPr>
              <a:t>Channel Distribution Analysis</a:t>
            </a:r>
            <a:endParaRPr lang="en-US" sz="3200" dirty="0">
              <a:latin typeface="Arial" panose="020B0604020202020204" pitchFamily="34" charset="0"/>
              <a:cs typeface="Arial" panose="020B0604020202020204" pitchFamily="34" charset="0"/>
            </a:endParaRPr>
          </a:p>
        </p:txBody>
      </p:sp>
      <p:sp>
        <p:nvSpPr>
          <p:cNvPr id="9" name="Title 1">
            <a:extLst>
              <a:ext uri="{FF2B5EF4-FFF2-40B4-BE49-F238E27FC236}">
                <a16:creationId xmlns:a16="http://schemas.microsoft.com/office/drawing/2014/main" id="{DAE1DECB-7FF2-0E1F-5D85-CE0ADE9FC8EC}"/>
              </a:ext>
            </a:extLst>
          </p:cNvPr>
          <p:cNvSpPr txBox="1">
            <a:spLocks/>
          </p:cNvSpPr>
          <p:nvPr/>
        </p:nvSpPr>
        <p:spPr>
          <a:xfrm>
            <a:off x="769620" y="1510534"/>
            <a:ext cx="8563951" cy="2163661"/>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1600" dirty="0">
                <a:latin typeface="Arial" panose="020B0604020202020204" pitchFamily="34" charset="0"/>
                <a:cs typeface="Arial" panose="020B0604020202020204" pitchFamily="34" charset="0"/>
              </a:rPr>
              <a:t>The data shows that the Call </a:t>
            </a:r>
            <a:r>
              <a:rPr lang="en-GB" sz="1600" dirty="0" err="1">
                <a:latin typeface="Arial" panose="020B0604020202020204" pitchFamily="34" charset="0"/>
                <a:cs typeface="Arial" panose="020B0604020202020204" pitchFamily="34" charset="0"/>
              </a:rPr>
              <a:t>Center</a:t>
            </a:r>
            <a:r>
              <a:rPr lang="en-GB" sz="1600" dirty="0">
                <a:latin typeface="Arial" panose="020B0604020202020204" pitchFamily="34" charset="0"/>
                <a:cs typeface="Arial" panose="020B0604020202020204" pitchFamily="34" charset="0"/>
              </a:rPr>
              <a:t> is the dominant channel (~33%), indicating strong reliance on human support. Email and chatbot channels contribute moderately, while the web channel remains underutilized.</a:t>
            </a:r>
          </a:p>
          <a:p>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This suggests that customers either:</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Do not trust automated/self-service channels, or</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Are not getting effective resolutions through them</a:t>
            </a:r>
          </a:p>
          <a:p>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Business Interpretation:</a:t>
            </a:r>
          </a:p>
          <a:p>
            <a:r>
              <a:rPr lang="en-GB" sz="1600" dirty="0">
                <a:latin typeface="Arial" panose="020B0604020202020204" pitchFamily="34" charset="0"/>
                <a:cs typeface="Arial" panose="020B0604020202020204" pitchFamily="34" charset="0"/>
              </a:rPr>
              <a:t>High dependency on call </a:t>
            </a:r>
            <a:r>
              <a:rPr lang="en-GB" sz="1600" dirty="0" err="1">
                <a:latin typeface="Arial" panose="020B0604020202020204" pitchFamily="34" charset="0"/>
                <a:cs typeface="Arial" panose="020B0604020202020204" pitchFamily="34" charset="0"/>
              </a:rPr>
              <a:t>centers</a:t>
            </a:r>
            <a:r>
              <a:rPr lang="en-GB" sz="1600" dirty="0">
                <a:latin typeface="Arial" panose="020B0604020202020204" pitchFamily="34" charset="0"/>
                <a:cs typeface="Arial" panose="020B0604020202020204" pitchFamily="34" charset="0"/>
              </a:rPr>
              <a:t> increases operational cost and pressure. It also indicates a gap in digital experience and automation maturity.</a:t>
            </a:r>
            <a:endParaRPr lang="en-US" sz="1600" dirty="0">
              <a:latin typeface="Arial" panose="020B0604020202020204" pitchFamily="34" charset="0"/>
              <a:cs typeface="Arial" panose="020B0604020202020204" pitchFamily="34" charset="0"/>
            </a:endParaRPr>
          </a:p>
        </p:txBody>
      </p:sp>
      <p:pic>
        <p:nvPicPr>
          <p:cNvPr id="13" name="Picture 12">
            <a:extLst>
              <a:ext uri="{FF2B5EF4-FFF2-40B4-BE49-F238E27FC236}">
                <a16:creationId xmlns:a16="http://schemas.microsoft.com/office/drawing/2014/main" id="{10DBFFDD-80BE-676F-2D07-D10D4760B574}"/>
              </a:ext>
            </a:extLst>
          </p:cNvPr>
          <p:cNvPicPr>
            <a:picLocks noChangeAspect="1"/>
          </p:cNvPicPr>
          <p:nvPr/>
        </p:nvPicPr>
        <p:blipFill>
          <a:blip r:embed="rId2"/>
          <a:stretch>
            <a:fillRect/>
          </a:stretch>
        </p:blipFill>
        <p:spPr>
          <a:xfrm>
            <a:off x="7115524" y="3718880"/>
            <a:ext cx="4851826" cy="2877031"/>
          </a:xfrm>
          <a:prstGeom prst="rect">
            <a:avLst/>
          </a:prstGeom>
        </p:spPr>
      </p:pic>
    </p:spTree>
    <p:extLst>
      <p:ext uri="{BB962C8B-B14F-4D97-AF65-F5344CB8AC3E}">
        <p14:creationId xmlns:p14="http://schemas.microsoft.com/office/powerpoint/2010/main" val="663611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7F33F-863F-F58E-93B4-B84E7EE193E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56B8263-3282-DD8B-F2A3-A2F39C4FA475}"/>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31AC9FFB-E0B4-0162-BF9F-89B9C40BDD9A}"/>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382E211D-4B73-055E-A7C3-97C5F0CEA649}"/>
              </a:ext>
            </a:extLst>
          </p:cNvPr>
          <p:cNvSpPr txBox="1">
            <a:spLocks/>
          </p:cNvSpPr>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3200" dirty="0">
                <a:latin typeface="Arial" panose="020B0604020202020204" pitchFamily="34" charset="0"/>
                <a:cs typeface="Arial" panose="020B0604020202020204" pitchFamily="34" charset="0"/>
              </a:rPr>
              <a:t>Call Reason Analysis</a:t>
            </a:r>
            <a:endParaRPr lang="en-US" sz="3200" dirty="0">
              <a:latin typeface="Arial" panose="020B0604020202020204" pitchFamily="34" charset="0"/>
              <a:cs typeface="Arial" panose="020B0604020202020204" pitchFamily="34" charset="0"/>
            </a:endParaRPr>
          </a:p>
        </p:txBody>
      </p:sp>
      <p:sp>
        <p:nvSpPr>
          <p:cNvPr id="9" name="Title 1">
            <a:extLst>
              <a:ext uri="{FF2B5EF4-FFF2-40B4-BE49-F238E27FC236}">
                <a16:creationId xmlns:a16="http://schemas.microsoft.com/office/drawing/2014/main" id="{0108B6BF-DB75-78F2-859F-301E111459D1}"/>
              </a:ext>
            </a:extLst>
          </p:cNvPr>
          <p:cNvSpPr txBox="1">
            <a:spLocks/>
          </p:cNvSpPr>
          <p:nvPr/>
        </p:nvSpPr>
        <p:spPr>
          <a:xfrm>
            <a:off x="769620" y="903130"/>
            <a:ext cx="8563951" cy="2754367"/>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1600" dirty="0">
                <a:latin typeface="Arial" panose="020B0604020202020204" pitchFamily="34" charset="0"/>
                <a:cs typeface="Arial" panose="020B0604020202020204" pitchFamily="34" charset="0"/>
              </a:rPr>
              <a:t>Billing-related queries account for nearly 70% of total calls, making it the primary driver of customer interactions. Other categories like payments and service outages are significantly lower.</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This clearly indicates that customers are facing:</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Confusion in billing statements</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Lack of transparency</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Possible billing errors</a:t>
            </a:r>
          </a:p>
          <a:p>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Business Interpretation:</a:t>
            </a:r>
          </a:p>
          <a:p>
            <a:r>
              <a:rPr lang="en-GB" sz="1600" dirty="0">
                <a:latin typeface="Arial" panose="020B0604020202020204" pitchFamily="34" charset="0"/>
                <a:cs typeface="Arial" panose="020B0604020202020204" pitchFamily="34" charset="0"/>
              </a:rPr>
              <a:t>Billing is not just a support issue - it is a core business process failure impacting customer trust and experience.</a:t>
            </a:r>
            <a:endParaRPr lang="en-US" sz="1600"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30840F2E-C7BB-F1E4-6E2F-D62247F97B80}"/>
              </a:ext>
            </a:extLst>
          </p:cNvPr>
          <p:cNvPicPr>
            <a:picLocks noChangeAspect="1"/>
          </p:cNvPicPr>
          <p:nvPr/>
        </p:nvPicPr>
        <p:blipFill>
          <a:blip r:embed="rId2"/>
          <a:stretch>
            <a:fillRect/>
          </a:stretch>
        </p:blipFill>
        <p:spPr>
          <a:xfrm>
            <a:off x="7103327" y="3718880"/>
            <a:ext cx="4650745" cy="2754368"/>
          </a:xfrm>
          <a:prstGeom prst="rect">
            <a:avLst/>
          </a:prstGeom>
        </p:spPr>
      </p:pic>
    </p:spTree>
    <p:extLst>
      <p:ext uri="{BB962C8B-B14F-4D97-AF65-F5344CB8AC3E}">
        <p14:creationId xmlns:p14="http://schemas.microsoft.com/office/powerpoint/2010/main" val="3327612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A4211-9244-A025-A632-43C4B2D4D06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E66F141-5880-88F2-F22F-54203E70D8E0}"/>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B5D5886E-F10E-A522-E616-4D784025AEB9}"/>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154B881D-1BCB-9FB6-674B-60280826C0FB}"/>
              </a:ext>
            </a:extLst>
          </p:cNvPr>
          <p:cNvSpPr txBox="1">
            <a:spLocks/>
          </p:cNvSpPr>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3200" dirty="0">
                <a:latin typeface="Arial" panose="020B0604020202020204" pitchFamily="34" charset="0"/>
                <a:cs typeface="Arial" panose="020B0604020202020204" pitchFamily="34" charset="0"/>
              </a:rPr>
              <a:t>Geographic Distribution Analysis</a:t>
            </a:r>
            <a:endParaRPr lang="en-US" sz="3200" dirty="0">
              <a:latin typeface="Arial" panose="020B0604020202020204" pitchFamily="34" charset="0"/>
              <a:cs typeface="Arial" panose="020B0604020202020204" pitchFamily="34" charset="0"/>
            </a:endParaRPr>
          </a:p>
        </p:txBody>
      </p:sp>
      <p:sp>
        <p:nvSpPr>
          <p:cNvPr id="9" name="Title 1">
            <a:extLst>
              <a:ext uri="{FF2B5EF4-FFF2-40B4-BE49-F238E27FC236}">
                <a16:creationId xmlns:a16="http://schemas.microsoft.com/office/drawing/2014/main" id="{7FEE114A-6D98-99AF-DF09-F3B307999729}"/>
              </a:ext>
            </a:extLst>
          </p:cNvPr>
          <p:cNvSpPr txBox="1">
            <a:spLocks/>
          </p:cNvSpPr>
          <p:nvPr/>
        </p:nvSpPr>
        <p:spPr>
          <a:xfrm>
            <a:off x="769620" y="1462436"/>
            <a:ext cx="8563951" cy="152627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1600" dirty="0">
                <a:latin typeface="Arial" panose="020B0604020202020204" pitchFamily="34" charset="0"/>
                <a:cs typeface="Arial" panose="020B0604020202020204" pitchFamily="34" charset="0"/>
              </a:rPr>
              <a:t>The call distribution is relatively even across different states, indicating that the issues are not region-specific.</a:t>
            </a:r>
          </a:p>
          <a:p>
            <a:r>
              <a:rPr lang="en-GB" sz="1600" dirty="0">
                <a:latin typeface="Arial" panose="020B0604020202020204" pitchFamily="34" charset="0"/>
                <a:cs typeface="Arial" panose="020B0604020202020204" pitchFamily="34" charset="0"/>
              </a:rPr>
              <a:t>This eliminates external factors like regional service quality or infrastructure and points toward centralized operational or process issues, especially in billing and support systems.</a:t>
            </a:r>
          </a:p>
          <a:p>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Business Interpretation:</a:t>
            </a:r>
          </a:p>
          <a:p>
            <a:r>
              <a:rPr lang="en-GB" sz="1600" dirty="0">
                <a:latin typeface="Arial" panose="020B0604020202020204" pitchFamily="34" charset="0"/>
                <a:cs typeface="Arial" panose="020B0604020202020204" pitchFamily="34" charset="0"/>
              </a:rPr>
              <a:t>The problem is systemic, meaning improvements must</a:t>
            </a:r>
          </a:p>
          <a:p>
            <a:r>
              <a:rPr lang="en-GB" sz="1600" dirty="0">
                <a:latin typeface="Arial" panose="020B0604020202020204" pitchFamily="34" charset="0"/>
                <a:cs typeface="Arial" panose="020B0604020202020204" pitchFamily="34" charset="0"/>
              </a:rPr>
              <a:t>be implemented at the organizational level, not locally.</a:t>
            </a:r>
            <a:endParaRPr lang="en-US" sz="16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659B9145-7B40-B20D-FF25-1B4BA4D5B8F5}"/>
              </a:ext>
            </a:extLst>
          </p:cNvPr>
          <p:cNvPicPr>
            <a:picLocks noChangeAspect="1"/>
          </p:cNvPicPr>
          <p:nvPr/>
        </p:nvPicPr>
        <p:blipFill>
          <a:blip r:embed="rId2"/>
          <a:stretch>
            <a:fillRect/>
          </a:stretch>
        </p:blipFill>
        <p:spPr>
          <a:xfrm>
            <a:off x="6096000" y="2511599"/>
            <a:ext cx="5991922" cy="4048175"/>
          </a:xfrm>
          <a:prstGeom prst="rect">
            <a:avLst/>
          </a:prstGeom>
        </p:spPr>
      </p:pic>
    </p:spTree>
    <p:extLst>
      <p:ext uri="{BB962C8B-B14F-4D97-AF65-F5344CB8AC3E}">
        <p14:creationId xmlns:p14="http://schemas.microsoft.com/office/powerpoint/2010/main" val="2045478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128FF-2F10-608E-6606-1FA937FDA94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B39BEA4-C29D-5E62-52C0-0990081DBD52}"/>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2B0BCBA9-997A-F45C-37FB-9D7AAC063E88}"/>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05331E77-F8EC-2923-4DCA-5712E2E72FA5}"/>
              </a:ext>
            </a:extLst>
          </p:cNvPr>
          <p:cNvSpPr txBox="1">
            <a:spLocks/>
          </p:cNvSpPr>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3200" dirty="0">
                <a:latin typeface="Arial" panose="020B0604020202020204" pitchFamily="34" charset="0"/>
                <a:cs typeface="Arial" panose="020B0604020202020204" pitchFamily="34" charset="0"/>
              </a:rPr>
              <a:t>Call Volume Trend Analysis</a:t>
            </a:r>
            <a:endParaRPr lang="en-US" sz="3200" dirty="0">
              <a:latin typeface="Arial" panose="020B0604020202020204" pitchFamily="34" charset="0"/>
              <a:cs typeface="Arial" panose="020B0604020202020204" pitchFamily="34" charset="0"/>
            </a:endParaRPr>
          </a:p>
        </p:txBody>
      </p:sp>
      <p:sp>
        <p:nvSpPr>
          <p:cNvPr id="9" name="Title 1">
            <a:extLst>
              <a:ext uri="{FF2B5EF4-FFF2-40B4-BE49-F238E27FC236}">
                <a16:creationId xmlns:a16="http://schemas.microsoft.com/office/drawing/2014/main" id="{156D0480-2A44-D74E-128F-B7DCCAA600D6}"/>
              </a:ext>
            </a:extLst>
          </p:cNvPr>
          <p:cNvSpPr txBox="1">
            <a:spLocks/>
          </p:cNvSpPr>
          <p:nvPr/>
        </p:nvSpPr>
        <p:spPr>
          <a:xfrm>
            <a:off x="769620" y="1343642"/>
            <a:ext cx="8563951" cy="237204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1600" dirty="0">
                <a:latin typeface="Arial" panose="020B0604020202020204" pitchFamily="34" charset="0"/>
                <a:cs typeface="Arial" panose="020B0604020202020204" pitchFamily="34" charset="0"/>
              </a:rPr>
              <a:t>The upward trend in call volume indicates increasing demand on customer support services. The noticeable peak towards the later period suggests either:</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Growth in customer base, or</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Rising number of unresolved issues</a:t>
            </a:r>
          </a:p>
          <a:p>
            <a:r>
              <a:rPr lang="en-GB" sz="1600" dirty="0">
                <a:latin typeface="Arial" panose="020B0604020202020204" pitchFamily="34" charset="0"/>
                <a:cs typeface="Arial" panose="020B0604020202020204" pitchFamily="34" charset="0"/>
              </a:rPr>
              <a:t>If the increase is driven by complaints (especially billing), it signals worsening service quality.</a:t>
            </a:r>
          </a:p>
          <a:p>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Business Interpretation:</a:t>
            </a:r>
          </a:p>
          <a:p>
            <a:r>
              <a:rPr lang="en-GB" sz="1600" dirty="0">
                <a:latin typeface="Arial" panose="020B0604020202020204" pitchFamily="34" charset="0"/>
                <a:cs typeface="Arial" panose="020B0604020202020204" pitchFamily="34" charset="0"/>
              </a:rPr>
              <a:t>If not addressed, this trend will lead to:</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Higher operational costs</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Increased agent workload</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Further drop in customer satisfaction</a:t>
            </a:r>
            <a:endParaRPr lang="en-US" sz="16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90BF7D02-F0D7-A2D0-ECEC-3638D2674958}"/>
              </a:ext>
            </a:extLst>
          </p:cNvPr>
          <p:cNvPicPr>
            <a:picLocks noChangeAspect="1"/>
          </p:cNvPicPr>
          <p:nvPr/>
        </p:nvPicPr>
        <p:blipFill>
          <a:blip r:embed="rId2"/>
          <a:stretch>
            <a:fillRect/>
          </a:stretch>
        </p:blipFill>
        <p:spPr>
          <a:xfrm>
            <a:off x="5475249" y="2822691"/>
            <a:ext cx="6557009" cy="3762765"/>
          </a:xfrm>
          <a:prstGeom prst="rect">
            <a:avLst/>
          </a:prstGeom>
        </p:spPr>
      </p:pic>
    </p:spTree>
    <p:extLst>
      <p:ext uri="{BB962C8B-B14F-4D97-AF65-F5344CB8AC3E}">
        <p14:creationId xmlns:p14="http://schemas.microsoft.com/office/powerpoint/2010/main" val="2098924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DFE93-CC69-45F3-033D-B48C25BE9D1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96CC844-1659-0F7F-EF2C-D847E1013883}"/>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7BA893F9-F53E-7EF8-6991-864B01B396C2}"/>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45266BF6-045E-3D93-5DCD-4DBF46387C4E}"/>
              </a:ext>
            </a:extLst>
          </p:cNvPr>
          <p:cNvSpPr txBox="1">
            <a:spLocks/>
          </p:cNvSpPr>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dirty="0">
                <a:latin typeface="Arial" panose="020B0604020202020204" pitchFamily="34" charset="0"/>
                <a:cs typeface="Arial" panose="020B0604020202020204" pitchFamily="34" charset="0"/>
              </a:rPr>
              <a:t>BUSINESS RECOMMENDATIONS</a:t>
            </a:r>
          </a:p>
        </p:txBody>
      </p:sp>
      <p:sp>
        <p:nvSpPr>
          <p:cNvPr id="9" name="Title 1">
            <a:extLst>
              <a:ext uri="{FF2B5EF4-FFF2-40B4-BE49-F238E27FC236}">
                <a16:creationId xmlns:a16="http://schemas.microsoft.com/office/drawing/2014/main" id="{45058D86-DFD4-795A-2510-66434DE45325}"/>
              </a:ext>
            </a:extLst>
          </p:cNvPr>
          <p:cNvSpPr txBox="1">
            <a:spLocks/>
          </p:cNvSpPr>
          <p:nvPr/>
        </p:nvSpPr>
        <p:spPr>
          <a:xfrm>
            <a:off x="769620" y="819131"/>
            <a:ext cx="10950312" cy="5537064"/>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1600" dirty="0">
                <a:latin typeface="Arial" panose="020B0604020202020204" pitchFamily="34" charset="0"/>
                <a:cs typeface="Arial" panose="020B0604020202020204" pitchFamily="34" charset="0"/>
              </a:rPr>
              <a:t>1. Billing System Optimization</a:t>
            </a:r>
          </a:p>
          <a:p>
            <a:pPr marL="342900" indent="-342900">
              <a:buFont typeface="Arial" panose="020B0604020202020204" pitchFamily="34" charset="0"/>
              <a:buChar char="•"/>
            </a:pPr>
            <a:r>
              <a:rPr lang="en-GB" sz="1600" dirty="0">
                <a:latin typeface="Arial" panose="020B0604020202020204" pitchFamily="34" charset="0"/>
                <a:cs typeface="Arial" panose="020B0604020202020204" pitchFamily="34" charset="0"/>
              </a:rPr>
              <a:t>Billing issues being the major driver (70%) require immediate attention.</a:t>
            </a:r>
          </a:p>
          <a:p>
            <a:pPr marL="342900" indent="-342900">
              <a:buFont typeface="Arial" panose="020B0604020202020204" pitchFamily="34" charset="0"/>
              <a:buChar char="•"/>
            </a:pPr>
            <a:r>
              <a:rPr lang="en-GB" sz="1600" dirty="0">
                <a:latin typeface="Arial" panose="020B0604020202020204" pitchFamily="34" charset="0"/>
                <a:cs typeface="Arial" panose="020B0604020202020204" pitchFamily="34" charset="0"/>
              </a:rPr>
              <a:t>Redesign billing statements with clear, itemized breakdowns</a:t>
            </a:r>
          </a:p>
          <a:p>
            <a:pPr marL="342900" indent="-342900">
              <a:buFont typeface="Arial" panose="020B0604020202020204" pitchFamily="34" charset="0"/>
              <a:buChar char="•"/>
            </a:pPr>
            <a:r>
              <a:rPr lang="en-GB" sz="1600" dirty="0">
                <a:latin typeface="Arial" panose="020B0604020202020204" pitchFamily="34" charset="0"/>
                <a:cs typeface="Arial" panose="020B0604020202020204" pitchFamily="34" charset="0"/>
              </a:rPr>
              <a:t>Introduce real-time billing dashboards for customers</a:t>
            </a:r>
          </a:p>
          <a:p>
            <a:pPr marL="342900" indent="-342900">
              <a:buFont typeface="Arial" panose="020B0604020202020204" pitchFamily="34" charset="0"/>
              <a:buChar char="•"/>
            </a:pPr>
            <a:r>
              <a:rPr lang="en-GB" sz="1600" dirty="0">
                <a:latin typeface="Arial" panose="020B0604020202020204" pitchFamily="34" charset="0"/>
                <a:cs typeface="Arial" panose="020B0604020202020204" pitchFamily="34" charset="0"/>
              </a:rPr>
              <a:t>Send proactive notifications explaining charges before billing cycle</a:t>
            </a:r>
          </a:p>
          <a:p>
            <a:pPr marL="342900" indent="-342900">
              <a:buFont typeface="Arial" panose="020B0604020202020204" pitchFamily="34" charset="0"/>
              <a:buChar char="•"/>
            </a:pPr>
            <a:r>
              <a:rPr lang="en-GB" sz="1600" dirty="0">
                <a:latin typeface="Arial" panose="020B0604020202020204" pitchFamily="34" charset="0"/>
                <a:cs typeface="Arial" panose="020B0604020202020204" pitchFamily="34" charset="0"/>
              </a:rPr>
              <a:t>Implement billing dispute resolution workflows</a:t>
            </a:r>
          </a:p>
          <a:p>
            <a:r>
              <a:rPr lang="en-GB" sz="1600" dirty="0">
                <a:latin typeface="Arial" panose="020B0604020202020204" pitchFamily="34" charset="0"/>
                <a:cs typeface="Arial" panose="020B0604020202020204" pitchFamily="34" charset="0"/>
              </a:rPr>
              <a:t>Impact: Reduces call volume significantly and improves transparency</a:t>
            </a:r>
          </a:p>
          <a:p>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2. Customer Experience Enhancement</a:t>
            </a:r>
          </a:p>
          <a:p>
            <a:pPr marL="342900" indent="-342900">
              <a:buFont typeface="Arial" panose="020B0604020202020204" pitchFamily="34" charset="0"/>
              <a:buChar char="•"/>
            </a:pPr>
            <a:r>
              <a:rPr lang="en-GB" sz="1600" dirty="0">
                <a:latin typeface="Arial" panose="020B0604020202020204" pitchFamily="34" charset="0"/>
                <a:cs typeface="Arial" panose="020B0604020202020204" pitchFamily="34" charset="0"/>
              </a:rPr>
              <a:t>Improving CSAT requires both process and people improvement.</a:t>
            </a:r>
          </a:p>
          <a:p>
            <a:pPr marL="342900" indent="-342900">
              <a:buFont typeface="Arial" panose="020B0604020202020204" pitchFamily="34" charset="0"/>
              <a:buChar char="•"/>
            </a:pPr>
            <a:r>
              <a:rPr lang="en-GB" sz="1600" dirty="0">
                <a:latin typeface="Arial" panose="020B0604020202020204" pitchFamily="34" charset="0"/>
                <a:cs typeface="Arial" panose="020B0604020202020204" pitchFamily="34" charset="0"/>
              </a:rPr>
              <a:t>Conduct agent training programs focused on communication &amp; empathy</a:t>
            </a:r>
          </a:p>
          <a:p>
            <a:pPr marL="342900" indent="-342900">
              <a:buFont typeface="Arial" panose="020B0604020202020204" pitchFamily="34" charset="0"/>
              <a:buChar char="•"/>
            </a:pPr>
            <a:r>
              <a:rPr lang="en-GB" sz="1600" dirty="0">
                <a:latin typeface="Arial" panose="020B0604020202020204" pitchFamily="34" charset="0"/>
                <a:cs typeface="Arial" panose="020B0604020202020204" pitchFamily="34" charset="0"/>
              </a:rPr>
              <a:t>Introduce quality monitoring systems for calls</a:t>
            </a:r>
          </a:p>
          <a:p>
            <a:pPr marL="342900" indent="-342900">
              <a:buFont typeface="Arial" panose="020B0604020202020204" pitchFamily="34" charset="0"/>
              <a:buChar char="•"/>
            </a:pPr>
            <a:r>
              <a:rPr lang="en-GB" sz="1600" dirty="0">
                <a:latin typeface="Arial" panose="020B0604020202020204" pitchFamily="34" charset="0"/>
                <a:cs typeface="Arial" panose="020B0604020202020204" pitchFamily="34" charset="0"/>
              </a:rPr>
              <a:t>Capture and </a:t>
            </a:r>
            <a:r>
              <a:rPr lang="en-GB" sz="1600" dirty="0" err="1">
                <a:latin typeface="Arial" panose="020B0604020202020204" pitchFamily="34" charset="0"/>
                <a:cs typeface="Arial" panose="020B0604020202020204" pitchFamily="34" charset="0"/>
              </a:rPr>
              <a:t>analyze</a:t>
            </a:r>
            <a:r>
              <a:rPr lang="en-GB" sz="1600" dirty="0">
                <a:latin typeface="Arial" panose="020B0604020202020204" pitchFamily="34" charset="0"/>
                <a:cs typeface="Arial" panose="020B0604020202020204" pitchFamily="34" charset="0"/>
              </a:rPr>
              <a:t> customer feedback data regularly</a:t>
            </a:r>
          </a:p>
          <a:p>
            <a:pPr marL="342900" indent="-342900">
              <a:buFont typeface="Arial" panose="020B0604020202020204" pitchFamily="34" charset="0"/>
              <a:buChar char="•"/>
            </a:pPr>
            <a:r>
              <a:rPr lang="en-GB" sz="1600" dirty="0">
                <a:latin typeface="Arial" panose="020B0604020202020204" pitchFamily="34" charset="0"/>
                <a:cs typeface="Arial" panose="020B0604020202020204" pitchFamily="34" charset="0"/>
              </a:rPr>
              <a:t>Implement First Call Resolution (FCR) tracking</a:t>
            </a:r>
          </a:p>
          <a:p>
            <a:r>
              <a:rPr lang="en-GB" sz="1600" dirty="0">
                <a:latin typeface="Arial" panose="020B0604020202020204" pitchFamily="34" charset="0"/>
                <a:cs typeface="Arial" panose="020B0604020202020204" pitchFamily="34" charset="0"/>
              </a:rPr>
              <a:t>Impact: Direct improvement in CSAT score</a:t>
            </a:r>
          </a:p>
          <a:p>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3. Reduce Call Duration (Operational Efficiency)</a:t>
            </a:r>
          </a:p>
          <a:p>
            <a:pPr marL="342900" indent="-342900">
              <a:buFont typeface="Arial" panose="020B0604020202020204" pitchFamily="34" charset="0"/>
              <a:buChar char="•"/>
            </a:pPr>
            <a:r>
              <a:rPr lang="en-GB" sz="1600" dirty="0">
                <a:latin typeface="Arial" panose="020B0604020202020204" pitchFamily="34" charset="0"/>
                <a:cs typeface="Arial" panose="020B0604020202020204" pitchFamily="34" charset="0"/>
              </a:rPr>
              <a:t>Long call duration indicates inefficiency.</a:t>
            </a:r>
          </a:p>
          <a:p>
            <a:pPr marL="342900" indent="-342900">
              <a:buFont typeface="Arial" panose="020B0604020202020204" pitchFamily="34" charset="0"/>
              <a:buChar char="•"/>
            </a:pPr>
            <a:r>
              <a:rPr lang="en-GB" sz="1600" dirty="0">
                <a:latin typeface="Arial" panose="020B0604020202020204" pitchFamily="34" charset="0"/>
                <a:cs typeface="Arial" panose="020B0604020202020204" pitchFamily="34" charset="0"/>
              </a:rPr>
              <a:t>Build a centralized knowledge base for agents</a:t>
            </a:r>
          </a:p>
          <a:p>
            <a:pPr marL="342900" indent="-342900">
              <a:buFont typeface="Arial" panose="020B0604020202020204" pitchFamily="34" charset="0"/>
              <a:buChar char="•"/>
            </a:pPr>
            <a:r>
              <a:rPr lang="en-GB" sz="1600" dirty="0">
                <a:latin typeface="Arial" panose="020B0604020202020204" pitchFamily="34" charset="0"/>
                <a:cs typeface="Arial" panose="020B0604020202020204" pitchFamily="34" charset="0"/>
              </a:rPr>
              <a:t>Standardize responses for common queries (especially billing)</a:t>
            </a:r>
          </a:p>
          <a:p>
            <a:pPr marL="342900" indent="-342900">
              <a:buFont typeface="Arial" panose="020B0604020202020204" pitchFamily="34" charset="0"/>
              <a:buChar char="•"/>
            </a:pPr>
            <a:r>
              <a:rPr lang="en-GB" sz="1600" dirty="0">
                <a:latin typeface="Arial" panose="020B0604020202020204" pitchFamily="34" charset="0"/>
                <a:cs typeface="Arial" panose="020B0604020202020204" pitchFamily="34" charset="0"/>
              </a:rPr>
              <a:t>Automate repetitive backend tasks</a:t>
            </a:r>
          </a:p>
          <a:p>
            <a:pPr marL="342900" indent="-342900">
              <a:buFont typeface="Arial" panose="020B0604020202020204" pitchFamily="34" charset="0"/>
              <a:buChar char="•"/>
            </a:pPr>
            <a:r>
              <a:rPr lang="en-GB" sz="1600" dirty="0">
                <a:latin typeface="Arial" panose="020B0604020202020204" pitchFamily="34" charset="0"/>
                <a:cs typeface="Arial" panose="020B0604020202020204" pitchFamily="34" charset="0"/>
              </a:rPr>
              <a:t>Introduce call scripts for faster resolution</a:t>
            </a:r>
          </a:p>
          <a:p>
            <a:r>
              <a:rPr lang="en-GB" sz="1600" dirty="0">
                <a:latin typeface="Arial" panose="020B0604020202020204" pitchFamily="34" charset="0"/>
                <a:cs typeface="Arial" panose="020B0604020202020204" pitchFamily="34" charset="0"/>
              </a:rPr>
              <a:t>Impact: Faster resolution → reduced cost → improved experience</a:t>
            </a: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30049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B555F-02C5-1A88-5E2D-AF7C0D0800E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E3276F3-32D6-4B31-D002-4590E38A8C97}"/>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7C953450-742E-B857-1B3B-4006B0735B7D}"/>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2B6D9565-E5F8-57C7-C054-6D7294C0C39C}"/>
              </a:ext>
            </a:extLst>
          </p:cNvPr>
          <p:cNvSpPr txBox="1">
            <a:spLocks/>
          </p:cNvSpPr>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dirty="0">
                <a:latin typeface="Arial" panose="020B0604020202020204" pitchFamily="34" charset="0"/>
                <a:cs typeface="Arial" panose="020B0604020202020204" pitchFamily="34" charset="0"/>
              </a:rPr>
              <a:t>BUSINESS RECOMMENDATIONS</a:t>
            </a:r>
          </a:p>
        </p:txBody>
      </p:sp>
      <p:sp>
        <p:nvSpPr>
          <p:cNvPr id="9" name="Title 1">
            <a:extLst>
              <a:ext uri="{FF2B5EF4-FFF2-40B4-BE49-F238E27FC236}">
                <a16:creationId xmlns:a16="http://schemas.microsoft.com/office/drawing/2014/main" id="{9C6F2927-CD14-6179-79B2-81E5E47D43DC}"/>
              </a:ext>
            </a:extLst>
          </p:cNvPr>
          <p:cNvSpPr txBox="1">
            <a:spLocks/>
          </p:cNvSpPr>
          <p:nvPr/>
        </p:nvSpPr>
        <p:spPr>
          <a:xfrm>
            <a:off x="769620" y="1159727"/>
            <a:ext cx="10950312" cy="4538546"/>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1600" dirty="0">
                <a:latin typeface="Arial" panose="020B0604020202020204" pitchFamily="34" charset="0"/>
                <a:cs typeface="Arial" panose="020B0604020202020204" pitchFamily="34" charset="0"/>
              </a:rPr>
              <a:t>4. Digital Transformation (Automation &amp; Self-Service)</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Reduce dependency on call </a:t>
            </a:r>
            <a:r>
              <a:rPr lang="en-GB" sz="1600" dirty="0" err="1">
                <a:latin typeface="Arial" panose="020B0604020202020204" pitchFamily="34" charset="0"/>
                <a:cs typeface="Arial" panose="020B0604020202020204" pitchFamily="34" charset="0"/>
              </a:rPr>
              <a:t>centers</a:t>
            </a:r>
            <a:r>
              <a:rPr lang="en-GB" sz="1600"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Upgrade chatbot with AI-based resolution capability</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Add self-service options for billing, payments, and FAQs</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Improve website/app usability for quick issue resolution</a:t>
            </a:r>
          </a:p>
          <a:p>
            <a:r>
              <a:rPr lang="en-GB" sz="1600" dirty="0">
                <a:latin typeface="Arial" panose="020B0604020202020204" pitchFamily="34" charset="0"/>
                <a:cs typeface="Arial" panose="020B0604020202020204" pitchFamily="34" charset="0"/>
              </a:rPr>
              <a:t>Impact: Lower operational cost + scalable support system</a:t>
            </a:r>
          </a:p>
          <a:p>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5. Improve SLA Performance</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Consistency is more important than just achieving SLA targets.</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Optimize workforce planning and shift allocation</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Introduce priority-based ticket handling</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Monitor SLA breaches in real-time dashboards</a:t>
            </a:r>
          </a:p>
          <a:p>
            <a:r>
              <a:rPr lang="en-GB" sz="1600" dirty="0">
                <a:latin typeface="Arial" panose="020B0604020202020204" pitchFamily="34" charset="0"/>
                <a:cs typeface="Arial" panose="020B0604020202020204" pitchFamily="34" charset="0"/>
              </a:rPr>
              <a:t>Impact: More consistent experience → higher customer trust</a:t>
            </a:r>
          </a:p>
          <a:p>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6. Future Demand Planning &amp; Scalability</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Call volume is increasing and needs proactive planning.</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Use trend forecasting models to predict call volumes</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Increase staffing during peak periods</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Scale infrastructure and support systems accordingly</a:t>
            </a:r>
          </a:p>
          <a:p>
            <a:r>
              <a:rPr lang="en-GB" sz="1600" dirty="0">
                <a:latin typeface="Arial" panose="020B0604020202020204" pitchFamily="34" charset="0"/>
                <a:cs typeface="Arial" panose="020B0604020202020204" pitchFamily="34" charset="0"/>
              </a:rPr>
              <a:t>Impact: Prevents service breakdown and maintains quality during growth</a:t>
            </a: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50390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7F4E5-0274-BBF7-6A7B-4D75F16A006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C9F3210-966E-3979-4D36-C73E5F0C6E7A}"/>
              </a:ext>
            </a:extLst>
          </p:cNvPr>
          <p:cNvSpPr/>
          <p:nvPr/>
        </p:nvSpPr>
        <p:spPr>
          <a:xfrm>
            <a:off x="0" y="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F4058588-5DA7-F0C2-60E6-21930A308C29}"/>
              </a:ext>
            </a:extLst>
          </p:cNvPr>
          <p:cNvSpPr/>
          <p:nvPr/>
        </p:nvSpPr>
        <p:spPr>
          <a:xfrm>
            <a:off x="0" y="6685280"/>
            <a:ext cx="12192000" cy="17272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7" name="Title 1">
            <a:extLst>
              <a:ext uri="{FF2B5EF4-FFF2-40B4-BE49-F238E27FC236}">
                <a16:creationId xmlns:a16="http://schemas.microsoft.com/office/drawing/2014/main" id="{08E74439-584F-FA7F-6E99-CA4BC4816B99}"/>
              </a:ext>
            </a:extLst>
          </p:cNvPr>
          <p:cNvSpPr txBox="1">
            <a:spLocks/>
          </p:cNvSpPr>
          <p:nvPr/>
        </p:nvSpPr>
        <p:spPr>
          <a:xfrm>
            <a:off x="769620" y="384752"/>
            <a:ext cx="10652760" cy="6685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dirty="0">
                <a:latin typeface="Arial" panose="020B0604020202020204" pitchFamily="34" charset="0"/>
                <a:cs typeface="Arial" panose="020B0604020202020204" pitchFamily="34" charset="0"/>
              </a:rPr>
              <a:t>BUSINESS RECOMMENDATIONS</a:t>
            </a:r>
          </a:p>
        </p:txBody>
      </p:sp>
      <p:sp>
        <p:nvSpPr>
          <p:cNvPr id="9" name="Title 1">
            <a:extLst>
              <a:ext uri="{FF2B5EF4-FFF2-40B4-BE49-F238E27FC236}">
                <a16:creationId xmlns:a16="http://schemas.microsoft.com/office/drawing/2014/main" id="{E82E7697-40A9-848C-D7D4-8DFAB23A28E4}"/>
              </a:ext>
            </a:extLst>
          </p:cNvPr>
          <p:cNvSpPr txBox="1">
            <a:spLocks/>
          </p:cNvSpPr>
          <p:nvPr/>
        </p:nvSpPr>
        <p:spPr>
          <a:xfrm>
            <a:off x="769620" y="1159727"/>
            <a:ext cx="10950312" cy="2531327"/>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sz="1600" dirty="0">
                <a:latin typeface="Arial" panose="020B0604020202020204" pitchFamily="34" charset="0"/>
                <a:cs typeface="Arial" panose="020B0604020202020204" pitchFamily="34" charset="0"/>
              </a:rPr>
              <a:t>The analysis clearly indicates that customer dissatisfaction is primarily driven by billing issues, inefficient resolution processes, and inconsistent service performance.</a:t>
            </a:r>
          </a:p>
          <a:p>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While operational metrics show moderate performance, the customer experience is significantly impacted, highlighting a gap between execution and expectation.</a:t>
            </a:r>
          </a:p>
          <a:p>
            <a:endParaRPr lang="en-GB" sz="1600" dirty="0">
              <a:latin typeface="Arial" panose="020B0604020202020204" pitchFamily="34" charset="0"/>
              <a:cs typeface="Arial" panose="020B0604020202020204" pitchFamily="34" charset="0"/>
            </a:endParaRPr>
          </a:p>
          <a:p>
            <a:r>
              <a:rPr lang="en-GB" sz="1600" dirty="0">
                <a:latin typeface="Arial" panose="020B0604020202020204" pitchFamily="34" charset="0"/>
                <a:cs typeface="Arial" panose="020B0604020202020204" pitchFamily="34" charset="0"/>
              </a:rPr>
              <a:t>Addressing billing transparency, improving operational efficiency, and investing in digital transformation will be critical to:</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Reduce call volume</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Improve CSAT</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Optimize cost</a:t>
            </a:r>
          </a:p>
          <a:p>
            <a:pPr marL="285750" indent="-285750">
              <a:buFont typeface="Arial" panose="020B0604020202020204" pitchFamily="34" charset="0"/>
              <a:buChar char="•"/>
            </a:pPr>
            <a:r>
              <a:rPr lang="en-GB" sz="1600" dirty="0">
                <a:latin typeface="Arial" panose="020B0604020202020204" pitchFamily="34" charset="0"/>
                <a:cs typeface="Arial" panose="020B0604020202020204" pitchFamily="34" charset="0"/>
              </a:rPr>
              <a:t>Build long-term customer trust</a:t>
            </a: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979678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358</TotalTime>
  <Words>1093</Words>
  <Application>Microsoft Office PowerPoint</Application>
  <PresentationFormat>Widescreen</PresentationFormat>
  <Paragraphs>122</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52</cp:revision>
  <dcterms:created xsi:type="dcterms:W3CDTF">2025-05-07T06:56:44Z</dcterms:created>
  <dcterms:modified xsi:type="dcterms:W3CDTF">2026-04-19T12:12:29Z</dcterms:modified>
</cp:coreProperties>
</file>